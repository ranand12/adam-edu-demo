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EA4335"/>
                </a:solidFill>
                <a:latin typeface="Arial"/>
              </a:rPr>
              <a:t>o</a:t>
            </a:r>
            <a:r>
              <a:rPr sz="1400">
                <a:solidFill>
                  <a:srgbClr val="FBBC04"/>
                </a:solidFill>
                <a:latin typeface="Arial"/>
              </a:rPr>
              <a:t>o</a:t>
            </a:r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34A853"/>
                </a:solidFill>
                <a:latin typeface="Arial"/>
              </a:rPr>
              <a:t>l</a:t>
            </a:r>
            <a:r>
              <a:rPr sz="1400">
                <a:solidFill>
                  <a:srgbClr val="EA4335"/>
                </a:solidFill>
                <a:latin typeface="Arial"/>
              </a:rPr>
              <a:t>e</a:t>
            </a:r>
            <a:r>
              <a:rPr sz="1400">
                <a:solidFill>
                  <a:srgbClr val="5F6368"/>
                </a:solidFill>
                <a:latin typeface="Arial"/>
              </a:rPr>
              <a:t>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02124"/>
                </a:solidFill>
                <a:latin typeface="Arial"/>
              </a:rPr>
              <a:t>What Can
</a:t>
            </a:r>
            <a:r>
              <a:rPr sz="4400" b="1">
                <a:solidFill>
                  <a:srgbClr val="4285F4"/>
                </a:solidFill>
                <a:latin typeface="Arial"/>
              </a:rPr>
              <a:t>Gemini Enterprise</a:t>
            </a:r>
            <a:r>
              <a:rPr sz="4400" b="1">
                <a:solidFill>
                  <a:srgbClr val="202124"/>
                </a:solidFill>
                <a:latin typeface="Arial"/>
              </a:rPr>
              <a:t>
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F6368"/>
                </a:solidFill>
                <a:latin typeface="Arial"/>
              </a:rPr>
              <a:t>9 capabilities transforming higher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6766560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6" y="6766560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69" y="6766560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EA4335"/>
                </a:solidFill>
                <a:latin typeface="Arial"/>
              </a:rPr>
              <a:t>o</a:t>
            </a:r>
            <a:r>
              <a:rPr sz="1400">
                <a:solidFill>
                  <a:srgbClr val="FBBC04"/>
                </a:solidFill>
                <a:latin typeface="Arial"/>
              </a:rPr>
              <a:t>o</a:t>
            </a:r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34A853"/>
                </a:solidFill>
                <a:latin typeface="Arial"/>
              </a:rPr>
              <a:t>l</a:t>
            </a:r>
            <a:r>
              <a:rPr sz="1400">
                <a:solidFill>
                  <a:srgbClr val="EA4335"/>
                </a:solidFill>
                <a:latin typeface="Arial"/>
              </a:rPr>
              <a:t>e</a:t>
            </a:r>
            <a:r>
              <a:rPr sz="1400">
                <a:solidFill>
                  <a:srgbClr val="5F6368"/>
                </a:solidFill>
                <a:latin typeface="Arial"/>
              </a:rPr>
              <a:t>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Arial"/>
              </a:rPr>
              <a:t>CONTENT &amp;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124"/>
                </a:solidFill>
                <a:latin typeface="Arial"/>
              </a:rPr>
              <a:t>Analyze, Search, and </a:t>
            </a:r>
            <a:r>
              <a:rPr sz="3000" b="1">
                <a:solidFill>
                  <a:srgbClr val="4285F4"/>
                </a:solidFill>
                <a:latin typeface="Arial"/>
              </a:rPr>
              <a:t>Create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1463040"/>
          </a:xfrm>
          <a:prstGeom prst="roundRect">
            <a:avLst/>
          </a:prstGeom>
          <a:solidFill>
            <a:srgbClr val="F8F9FA"/>
          </a:solidFill>
          <a:ln w="317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874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Arial"/>
              </a:rPr>
              <a:t>AI Assistant — File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Arial"/>
              </a:rPr>
              <a:t>Upload research papers, datasets, and documents. Gemini extracts key insights, summarizes findings, and answers questions about your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1463040"/>
          </a:xfrm>
          <a:prstGeom prst="roundRect">
            <a:avLst/>
          </a:prstGeom>
          <a:solidFill>
            <a:srgbClr val="F8F9FA"/>
          </a:solidFill>
          <a:ln w="317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566160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Arial"/>
              </a:rPr>
              <a:t>Grounded Web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Arial"/>
              </a:rPr>
              <a:t>Search the live web for the latest literature, grant opportunities, and research developments — with cited sources you can verify.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515600" cy="1463040"/>
          </a:xfrm>
          <a:prstGeom prst="roundRect">
            <a:avLst/>
          </a:prstGeom>
          <a:solidFill>
            <a:srgbClr val="F8F9FA"/>
          </a:solidFill>
          <a:ln w="317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5212080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166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Arial"/>
              </a:rPr>
              <a:t>Media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577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Arial"/>
              </a:rPr>
              <a:t>Create diagrams, research posters, infographics, and presentation visuals directly from prompts — no design tools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6766560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6" y="6766560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69" y="6766560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EA4335"/>
                </a:solidFill>
                <a:latin typeface="Arial"/>
              </a:rPr>
              <a:t>o</a:t>
            </a:r>
            <a:r>
              <a:rPr sz="1400">
                <a:solidFill>
                  <a:srgbClr val="FBBC04"/>
                </a:solidFill>
                <a:latin typeface="Arial"/>
              </a:rPr>
              <a:t>o</a:t>
            </a:r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34A853"/>
                </a:solidFill>
                <a:latin typeface="Arial"/>
              </a:rPr>
              <a:t>l</a:t>
            </a:r>
            <a:r>
              <a:rPr sz="1400">
                <a:solidFill>
                  <a:srgbClr val="EA4335"/>
                </a:solidFill>
                <a:latin typeface="Arial"/>
              </a:rPr>
              <a:t>e</a:t>
            </a:r>
            <a:r>
              <a:rPr sz="1400">
                <a:solidFill>
                  <a:srgbClr val="5F6368"/>
                </a:solidFill>
                <a:latin typeface="Arial"/>
              </a:rPr>
              <a:t>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Arial"/>
              </a:rPr>
              <a:t>KNOWLEDGE &amp;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124"/>
                </a:solidFill>
                <a:latin typeface="Arial"/>
              </a:rPr>
              <a:t>Synthesize, Discover, and </a:t>
            </a:r>
            <a:r>
              <a:rPr sz="3000" b="1">
                <a:solidFill>
                  <a:srgbClr val="4285F4"/>
                </a:solidFill>
                <a:latin typeface="Arial"/>
              </a:rPr>
              <a:t>Explore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1463040"/>
          </a:xfrm>
          <a:prstGeom prst="roundRect">
            <a:avLst/>
          </a:prstGeom>
          <a:solidFill>
            <a:srgbClr val="F8F9FA"/>
          </a:solidFill>
          <a:ln w="317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874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Arial"/>
              </a:rPr>
              <a:t>Research Knowledge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Arial"/>
              </a:rPr>
              <a:t>Build reusable Gems — custom AI assistants for lab protocols, grant writing, methodology guidance, and domain-specific expertise.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1463040"/>
          </a:xfrm>
          <a:prstGeom prst="roundRect">
            <a:avLst/>
          </a:prstGeom>
          <a:solidFill>
            <a:srgbClr val="F8F9FA"/>
          </a:solidFill>
          <a:ln w="3175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566160"/>
            <a:ext cx="548640" cy="548640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Arial"/>
              </a:rPr>
              <a:t>NotebookLM Literature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Arial"/>
              </a:rPr>
              <a:t>Upload multiple papers and let NotebookLM synthesize themes, generate audio overviews, and answer cross-document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515600" cy="1463040"/>
          </a:xfrm>
          <a:prstGeom prst="roundRect">
            <a:avLst/>
          </a:prstGeom>
          <a:solidFill>
            <a:srgbClr val="F8F9FA"/>
          </a:solidFill>
          <a:ln w="317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5212080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166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Arial"/>
              </a:rPr>
              <a:t>Deep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577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Arial"/>
              </a:rPr>
              <a:t>Launch comprehensive, web-wide research queries that return structured reports with citations — the depth of a research assistant in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6766560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6" y="6766560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69" y="6766560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EA4335"/>
                </a:solidFill>
                <a:latin typeface="Arial"/>
              </a:rPr>
              <a:t>o</a:t>
            </a:r>
            <a:r>
              <a:rPr sz="1400">
                <a:solidFill>
                  <a:srgbClr val="FBBC04"/>
                </a:solidFill>
                <a:latin typeface="Arial"/>
              </a:rPr>
              <a:t>o</a:t>
            </a:r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34A853"/>
                </a:solidFill>
                <a:latin typeface="Arial"/>
              </a:rPr>
              <a:t>l</a:t>
            </a:r>
            <a:r>
              <a:rPr sz="1400">
                <a:solidFill>
                  <a:srgbClr val="EA4335"/>
                </a:solidFill>
                <a:latin typeface="Arial"/>
              </a:rPr>
              <a:t>e</a:t>
            </a:r>
            <a:r>
              <a:rPr sz="1400">
                <a:solidFill>
                  <a:srgbClr val="5F6368"/>
                </a:solidFill>
                <a:latin typeface="Arial"/>
              </a:rPr>
              <a:t>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5ABC"/>
                </a:solidFill>
                <a:latin typeface="Arial"/>
              </a:rPr>
              <a:t>PLATFORM &amp; 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124"/>
                </a:solidFill>
                <a:latin typeface="Arial"/>
              </a:rPr>
              <a:t>Connect, Extend, and </a:t>
            </a:r>
            <a:r>
              <a:rPr sz="3000" b="1">
                <a:solidFill>
                  <a:srgbClr val="4285F4"/>
                </a:solidFill>
                <a:latin typeface="Arial"/>
              </a:rPr>
              <a:t>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1463040"/>
          </a:xfrm>
          <a:prstGeom prst="roundRect">
            <a:avLst/>
          </a:prstGeom>
          <a:solidFill>
            <a:srgbClr val="F8F9FA"/>
          </a:solidFill>
          <a:ln w="31750">
            <a:solidFill>
              <a:srgbClr val="185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185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874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Arial"/>
              </a:rPr>
              <a:t>Multi-Model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Arial"/>
              </a:rPr>
              <a:t>Connect to multiple AI models — including Claude from Anthropic — directly through Gemini Enterprise. Choose the best model for every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1463040"/>
          </a:xfrm>
          <a:prstGeom prst="roundRect">
            <a:avLst/>
          </a:prstGeom>
          <a:solidFill>
            <a:srgbClr val="F8F9FA"/>
          </a:solidFill>
          <a:ln w="31750">
            <a:solidFill>
              <a:srgbClr val="078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566160"/>
            <a:ext cx="548640" cy="548640"/>
          </a:xfrm>
          <a:prstGeom prst="ellipse">
            <a:avLst/>
          </a:prstGeom>
          <a:solidFill>
            <a:srgbClr val="07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Arial"/>
              </a:rPr>
              <a:t>External 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Arial"/>
              </a:rPr>
              <a:t>Link Gemini to external data sources, APIs, and institutional tools — bring your university's data into the AI conversation.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515600" cy="1463040"/>
          </a:xfrm>
          <a:prstGeom prst="roundRect">
            <a:avLst/>
          </a:prstGeom>
          <a:solidFill>
            <a:srgbClr val="F8F9FA"/>
          </a:solidFill>
          <a:ln w="31750">
            <a:solidFill>
              <a:srgbClr val="EE4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5212080"/>
            <a:ext cx="548640" cy="548640"/>
          </a:xfrm>
          <a:prstGeom prst="ellipse">
            <a:avLst/>
          </a:prstGeom>
          <a:solidFill>
            <a:srgbClr val="EE4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166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Arial"/>
              </a:rPr>
              <a:t>Custom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577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Arial"/>
              </a:rPr>
              <a:t>Build purpose-built AI agents for specific university needs — like </a:t>
            </a:r>
            <a:r>
              <a:rPr sz="1400" b="1">
                <a:solidFill>
                  <a:srgbClr val="4285F4"/>
                </a:solidFill>
                <a:latin typeface="Arial"/>
              </a:rPr>
              <a:t>Grants AI</a:t>
            </a:r>
            <a:r>
              <a:rPr sz="1400" b="0">
                <a:solidFill>
                  <a:srgbClr val="5F6368"/>
                </a:solidFill>
                <a:latin typeface="Arial"/>
              </a:rPr>
              <a:t> for funding discovery and </a:t>
            </a:r>
            <a:r>
              <a:rPr sz="1400" b="1">
                <a:solidFill>
                  <a:srgbClr val="4285F4"/>
                </a:solidFill>
                <a:latin typeface="Arial"/>
              </a:rPr>
              <a:t>AI Tutor</a:t>
            </a:r>
            <a:r>
              <a:rPr sz="1400" b="0">
                <a:solidFill>
                  <a:srgbClr val="5F6368"/>
                </a:solidFill>
                <a:latin typeface="Arial"/>
              </a:rPr>
              <a:t> for personalized student support.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6766560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6" y="6766560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69" y="6766560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EA4335"/>
                </a:solidFill>
                <a:latin typeface="Arial"/>
              </a:rPr>
              <a:t>o</a:t>
            </a:r>
            <a:r>
              <a:rPr sz="1400">
                <a:solidFill>
                  <a:srgbClr val="FBBC04"/>
                </a:solidFill>
                <a:latin typeface="Arial"/>
              </a:rPr>
              <a:t>o</a:t>
            </a:r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34A853"/>
                </a:solidFill>
                <a:latin typeface="Arial"/>
              </a:rPr>
              <a:t>l</a:t>
            </a:r>
            <a:r>
              <a:rPr sz="1400">
                <a:solidFill>
                  <a:srgbClr val="EA4335"/>
                </a:solidFill>
                <a:latin typeface="Arial"/>
              </a:rPr>
              <a:t>e</a:t>
            </a:r>
            <a:r>
              <a:rPr sz="1400">
                <a:solidFill>
                  <a:srgbClr val="5F6368"/>
                </a:solidFill>
                <a:latin typeface="Arial"/>
              </a:rPr>
              <a:t>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4285F4"/>
                </a:solidFill>
                <a:latin typeface="Arial"/>
              </a:rPr>
              <a:t>Demos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6766560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6" y="6766560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3769" y="6766560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EA4335"/>
                </a:solidFill>
                <a:latin typeface="Arial"/>
              </a:rPr>
              <a:t>o</a:t>
            </a:r>
            <a:r>
              <a:rPr sz="1400">
                <a:solidFill>
                  <a:srgbClr val="FBBC04"/>
                </a:solidFill>
                <a:latin typeface="Arial"/>
              </a:rPr>
              <a:t>o</a:t>
            </a:r>
            <a:r>
              <a:rPr sz="1400">
                <a:solidFill>
                  <a:srgbClr val="4285F4"/>
                </a:solidFill>
                <a:latin typeface="Arial"/>
              </a:rPr>
              <a:t>g</a:t>
            </a:r>
            <a:r>
              <a:rPr sz="1400">
                <a:solidFill>
                  <a:srgbClr val="34A853"/>
                </a:solidFill>
                <a:latin typeface="Arial"/>
              </a:rPr>
              <a:t>l</a:t>
            </a:r>
            <a:r>
              <a:rPr sz="1400">
                <a:solidFill>
                  <a:srgbClr val="EA4335"/>
                </a:solidFill>
                <a:latin typeface="Arial"/>
              </a:rPr>
              <a:t>e</a:t>
            </a:r>
            <a:r>
              <a:rPr sz="1400">
                <a:solidFill>
                  <a:srgbClr val="5F6368"/>
                </a:solidFill>
                <a:latin typeface="Arial"/>
              </a:rPr>
              <a:t>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202124"/>
                </a:solidFill>
                <a:latin typeface="Arial"/>
              </a:rPr>
              <a:t>Thank </a:t>
            </a:r>
            <a:r>
              <a:rPr sz="5600" b="1">
                <a:solidFill>
                  <a:srgbClr val="4285F4"/>
                </a:solidFill>
                <a:latin typeface="Arial"/>
              </a:rPr>
              <a:t>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6766560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6" y="6766560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3769" y="6766560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